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dirty="0" smtClean="0">
                <a:solidFill>
                  <a:srgbClr val="FFFFFF"/>
                </a:solidFill>
              </a:rPr>
              <a:t> </a:t>
            </a:r>
            <a:r>
              <a:rPr sz="4200" b="1" dirty="0">
                <a:solidFill>
                  <a:srgbClr val="FFFFFF"/>
                </a:solidFill>
              </a:rPr>
              <a:t>Aegis QA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BEAFE"/>
                </a:solidFill>
              </a:rPr>
              <a:t>AI 기반 테스트케이스 자동 생성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</a:rPr>
              <a:t>PDF 기획서  →  메뉴트리 추출  →  TC 자동 생성  →  Excel 리포트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 smtClean="0">
                <a:solidFill>
                  <a:srgbClr val="DBEAFE"/>
                </a:solidFill>
              </a:rPr>
              <a:t>ITERP</a:t>
            </a:r>
            <a:r>
              <a:rPr sz="1300" b="0" dirty="0" smtClean="0">
                <a:solidFill>
                  <a:srgbClr val="DBEAFE"/>
                </a:solidFill>
              </a:rPr>
              <a:t> </a:t>
            </a:r>
            <a:r>
              <a:rPr sz="1300" b="0" dirty="0" err="1">
                <a:solidFill>
                  <a:srgbClr val="DBEAFE"/>
                </a:solidFill>
              </a:rPr>
              <a:t>공유용</a:t>
            </a:r>
            <a:r>
              <a:rPr sz="1300" b="0" dirty="0">
                <a:solidFill>
                  <a:srgbClr val="DBEAFE"/>
                </a:solidFill>
              </a:rPr>
              <a:t>  |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프로젝트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</a:rPr>
              <a:t>QA 단계의 인력·비용·시간 절감 + TC 품질 자동 고도화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949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9496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😓  기존 Pain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50">
                <a:solidFill>
                  <a:srgbClr val="374151"/>
                </a:solidFill>
              </a:rPr>
              <a:t>기획 완료 후 TC 수작업 작성에 평균 2~3일 소요</a:t>
            </a:r>
          </a:p>
          <a:p>
            <a:pPr>
              <a:spcBef>
                <a:spcPts val="200"/>
              </a:spcBef>
            </a:pPr>
            <a:r>
              <a:rPr sz="1350">
                <a:solidFill>
                  <a:srgbClr val="374151"/>
                </a:solidFill>
              </a:rPr>
              <a:t>QA 엔지니어 역량에 따라 TC 품질 편차 발생</a:t>
            </a:r>
          </a:p>
          <a:p>
            <a:pPr>
              <a:spcBef>
                <a:spcPts val="200"/>
              </a:spcBef>
            </a:pPr>
            <a:r>
              <a:rPr sz="1350">
                <a:solidFill>
                  <a:srgbClr val="374151"/>
                </a:solidFill>
              </a:rPr>
              <a:t>과거 결함 이력이 다음 프로젝트에 반영되지 않음</a:t>
            </a:r>
          </a:p>
          <a:p>
            <a:pPr>
              <a:spcBef>
                <a:spcPts val="200"/>
              </a:spcBef>
            </a:pPr>
            <a:r>
              <a:rPr sz="1350">
                <a:solidFill>
                  <a:srgbClr val="374151"/>
                </a:solidFill>
              </a:rPr>
              <a:t>기획서 변경 시 TC 전면 재작성 부담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43000"/>
            <a:ext cx="56692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1887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✅  Aegis QA로 해결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527048"/>
            <a:ext cx="53949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50">
                <a:solidFill>
                  <a:srgbClr val="374151"/>
                </a:solidFill>
              </a:rPr>
              <a:t>AI가 PDF 기획서를 분석, TC 초안을 수 분 내 자동 생성</a:t>
            </a:r>
          </a:p>
          <a:p>
            <a:pPr>
              <a:spcBef>
                <a:spcPts val="200"/>
              </a:spcBef>
            </a:pPr>
            <a:r>
              <a:rPr sz="1350">
                <a:solidFill>
                  <a:srgbClr val="374151"/>
                </a:solidFill>
              </a:rPr>
              <a:t>메뉴트리 추출로 테스트 범위를 사전에 시각화·확정</a:t>
            </a:r>
          </a:p>
          <a:p>
            <a:pPr>
              <a:spcBef>
                <a:spcPts val="200"/>
              </a:spcBef>
            </a:pPr>
            <a:r>
              <a:rPr sz="1350">
                <a:solidFill>
                  <a:srgbClr val="374151"/>
                </a:solidFill>
              </a:rPr>
              <a:t>매뉴얼·결함이력·TC이력 RAG로 품질 자동 고도화</a:t>
            </a:r>
          </a:p>
          <a:p>
            <a:pPr>
              <a:spcBef>
                <a:spcPts val="200"/>
              </a:spcBef>
            </a:pPr>
            <a:r>
              <a:rPr sz="1350">
                <a:solidFill>
                  <a:srgbClr val="374151"/>
                </a:solidFill>
              </a:rPr>
              <a:t>TC 생성 레벨(1~5) 조절로 일정·품질 균형 확보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개발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</a:rPr>
              <a:t>AI 페어 프로그래밍 — Claude Code와 협업 개발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374151"/>
                </a:solidFill>
              </a:rPr>
              <a:t>개발자가 요구사항과 방향을 제시 → Claude Code(AI)가 코드 작성·수정 → 개발자가 검토·확정하는 반복 사이클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2563EB"/>
                </a:solidFill>
              </a:rPr>
              <a:t>→  3~4주 내 MVP에서 운영 수준 시스템 완성  |  백엔드(FastAPI) + 프론트(React) + AI 파이프라인 전 영역 커버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1463040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632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BEAFE"/>
                </a:solidFill>
              </a:rPr>
              <a:t>FastAPI 백엔드
+ TC 생성 엔진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514600"/>
            <a:ext cx="1463040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2606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632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BEAFE"/>
                </a:solidFill>
              </a:rPr>
              <a:t>RAG 시스템
(3종 벡터 DB)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514600"/>
            <a:ext cx="1463040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2606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632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BEAFE"/>
                </a:solidFill>
              </a:rPr>
              <a:t>React
TC 검토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514600"/>
            <a:ext cx="1463040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0" y="2606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632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BEAFE"/>
                </a:solidFill>
              </a:rPr>
              <a:t>변경유형
자동 감지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514600"/>
            <a:ext cx="1463040" cy="3291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2606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4.5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632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BEAFE"/>
                </a:solidFill>
              </a:rPr>
              <a:t>TC 생성
레벨 시스템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480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</a:rPr>
              <a:t>최근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514600"/>
            <a:ext cx="1463040" cy="3291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0" y="2606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4.6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0632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BEAFE"/>
                </a:solidFill>
              </a:rPr>
              <a:t>메뉴트리 플로우
+ QA 룰셋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480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</a:rPr>
              <a:t>최근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0" y="2514600"/>
            <a:ext cx="1463040" cy="3291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41280" y="2606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4.7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0632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BEAFE"/>
                </a:solidFill>
              </a:rPr>
              <a:t>AI 프롬프트
도메인 특화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4480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</a:rPr>
              <a:t>최근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897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A34A"/>
                </a:solidFill>
              </a:rPr>
              <a:t>✅ 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897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</a:rPr>
              <a:t>⭐ 최근 완료 (현재 버전)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시스템 동작 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</a:rPr>
              <a:t>사용자 액션 → AI 분석 → 메뉴트리 검토 → TC 생성 → 검토 →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1371600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0116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PDF
업로드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402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74151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2" y="1463040"/>
            <a:ext cx="1371600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56232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2" y="20116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메뉴트리
AI 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2402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74151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3864" y="1463040"/>
            <a:ext cx="1371600" cy="2011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83864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0116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사용자
검토·편집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22402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74151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11496" y="1463040"/>
            <a:ext cx="1371600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11496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20116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TC
생성 시작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2402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74151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39128" y="1463040"/>
            <a:ext cx="1371600" cy="20116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9128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20116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RAG+AI
TC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2402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74151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1463040"/>
            <a:ext cx="1371600" cy="2011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0116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TC
검토·승인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2402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74151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94392" y="1463040"/>
            <a:ext cx="1371600" cy="201168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94392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20116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Excel
다운로드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703320"/>
            <a:ext cx="11704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</a:rPr>
              <a:t>⚡  AI 엔진 (Google Gemini API)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16052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</a:rPr>
              <a:t>• TREE_PROMPT  →  기획서 분석 + 4단계 메뉴트리 추출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41655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</a:rPr>
              <a:t>• TC_GENERATE_PROMPT  →  기능별 TC 생성 (변경유형·레벨·RAG 반영)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672584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</a:rPr>
              <a:t>• ANALYZE_PROMPT  →  기능 목록 추출 + 변경유형 자동 판단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5120640"/>
            <a:ext cx="11704320" cy="640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5230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</a:rPr>
              <a:t>📊  TC 생성 중 실시간 진행률 표시  :  기능 N/M 처리 중  ·  경과 시간  ·  예상 완료까지 N분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RAG 시스템 — 품질 자동 고도화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</a:rPr>
              <a:t>매뉴얼·결함이력·TC이력을 벡터화하여 TC 생성 시 자동 반영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47472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200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smtClean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매뉴얼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벡터</a:t>
            </a:r>
            <a:r>
              <a:rPr sz="1500" b="1" dirty="0">
                <a:solidFill>
                  <a:srgbClr val="FFFFFF"/>
                </a:solidFill>
              </a:rPr>
              <a:t>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3200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XpERP 업무 매뉴얼 PDF 8종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총 362+ 청크 (800자 단위)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검침·부과·수납·회계·인사급여 등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→ 실제 스펙·입력조건·오류메시지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80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151"/>
                </a:solidFill>
              </a:rPr>
              <a:t>manual_xperp.pkl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18872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1188720"/>
            <a:ext cx="347472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1234440"/>
            <a:ext cx="3200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smtClean="0">
                <a:solidFill>
                  <a:srgbClr val="FFFFFF"/>
                </a:solidFill>
              </a:rPr>
              <a:t>  </a:t>
            </a:r>
            <a:r>
              <a:rPr sz="1500" b="1" dirty="0" err="1">
                <a:solidFill>
                  <a:srgbClr val="FFFFFF"/>
                </a:solidFill>
              </a:rPr>
              <a:t>결함이력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벡터</a:t>
            </a:r>
            <a:r>
              <a:rPr sz="1500" b="1" dirty="0">
                <a:solidFill>
                  <a:srgbClr val="FFFFFF"/>
                </a:solidFill>
              </a:rPr>
              <a:t>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572768"/>
            <a:ext cx="3200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과거 테스트 결과 Excel 업로드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Fail TC 자동 추출·벡터화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유사 기능의 비정상/경계값 강화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→ 반복 결함 사전 차단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480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151"/>
                </a:solidFill>
              </a:rPr>
              <a:t>defect_history.pkl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118872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80" y="1188720"/>
            <a:ext cx="347472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2440" y="1234440"/>
            <a:ext cx="3200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smtClean="0">
                <a:solidFill>
                  <a:srgbClr val="FFFFFF"/>
                </a:solidFill>
              </a:rPr>
              <a:t>  </a:t>
            </a:r>
            <a:r>
              <a:rPr sz="1500" b="1" dirty="0" err="1">
                <a:solidFill>
                  <a:srgbClr val="FFFFFF"/>
                </a:solidFill>
              </a:rPr>
              <a:t>TC이력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벡터</a:t>
            </a:r>
            <a:r>
              <a:rPr sz="1500" b="1" dirty="0">
                <a:solidFill>
                  <a:srgbClr val="FFFFFF"/>
                </a:solidFill>
              </a:rPr>
              <a:t>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1572768"/>
            <a:ext cx="3200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TC 생성/재생성 시 자동 누적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문서별 TC 구조·패턴 학습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유사 기능 TC 스타일 참고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→ 사이클 반복 시 품질 향상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480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151"/>
                </a:solidFill>
              </a:rPr>
              <a:t>tc_history.pkl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0916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40AF"/>
                </a:solidFill>
              </a:rPr>
              <a:t>🔍  유사도 검색 (코사인 유사도)  →  상위 결과를 TC 생성 프롬프트에 자동 주입  →  Gemini API가 스펙·결함·패턴 반영하여 TC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440680"/>
            <a:ext cx="11430000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💡  SimpleVectorStore  —  자체 구현 벡터 DB (numpy 기반)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8704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BEAFE"/>
                </a:solidFill>
              </a:rPr>
              <a:t>ChromaDB(C++ 컴파일 필요) 대신 순수 Python + numpy로 구현  ·  pickle 파일로 로컬 저장  ·  코사인 유사도 검색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</a:rPr>
              <a:t>메뉴트리 · TC 레벨 · QA 룰셋 · 도메인 특화 프롬프트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651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517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smtClean="0">
                <a:solidFill>
                  <a:srgbClr val="FFFFFF"/>
                </a:solidFill>
              </a:rPr>
              <a:t>  </a:t>
            </a:r>
            <a:r>
              <a:rPr sz="1500" b="1" dirty="0" err="1">
                <a:solidFill>
                  <a:srgbClr val="FFFFFF"/>
                </a:solidFill>
              </a:rPr>
              <a:t>메뉴트리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추출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377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>
                <a:solidFill>
                  <a:srgbClr val="374151"/>
                </a:solidFill>
              </a:rPr>
              <a:t>4단계 </a:t>
            </a:r>
            <a:r>
              <a:rPr sz="1300" dirty="0" err="1">
                <a:solidFill>
                  <a:srgbClr val="374151"/>
                </a:solidFill>
              </a:rPr>
              <a:t>계층</a:t>
            </a:r>
            <a:r>
              <a:rPr sz="1300" dirty="0">
                <a:solidFill>
                  <a:srgbClr val="374151"/>
                </a:solidFill>
              </a:rPr>
              <a:t>: </a:t>
            </a:r>
            <a:r>
              <a:rPr sz="1300" dirty="0" err="1">
                <a:solidFill>
                  <a:srgbClr val="374151"/>
                </a:solidFill>
              </a:rPr>
              <a:t>모듈</a:t>
            </a:r>
            <a:r>
              <a:rPr sz="1300" dirty="0">
                <a:solidFill>
                  <a:srgbClr val="374151"/>
                </a:solidFill>
              </a:rPr>
              <a:t> &gt; </a:t>
            </a:r>
            <a:r>
              <a:rPr sz="1300" dirty="0" err="1">
                <a:solidFill>
                  <a:srgbClr val="374151"/>
                </a:solidFill>
              </a:rPr>
              <a:t>화면</a:t>
            </a:r>
            <a:r>
              <a:rPr sz="1300" dirty="0">
                <a:solidFill>
                  <a:srgbClr val="374151"/>
                </a:solidFill>
              </a:rPr>
              <a:t> &gt; </a:t>
            </a:r>
            <a:r>
              <a:rPr sz="1300" dirty="0" err="1">
                <a:solidFill>
                  <a:srgbClr val="374151"/>
                </a:solidFill>
              </a:rPr>
              <a:t>영역</a:t>
            </a:r>
            <a:r>
              <a:rPr sz="1300" dirty="0">
                <a:solidFill>
                  <a:srgbClr val="374151"/>
                </a:solidFill>
              </a:rPr>
              <a:t> &gt; </a:t>
            </a:r>
            <a:r>
              <a:rPr sz="1300" dirty="0" err="1">
                <a:solidFill>
                  <a:srgbClr val="374151"/>
                </a:solidFill>
              </a:rPr>
              <a:t>기능</a:t>
            </a:r>
            <a:endParaRPr sz="1300" dirty="0">
              <a:solidFill>
                <a:srgbClr val="374151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374151"/>
                </a:solidFill>
              </a:rPr>
              <a:t>리프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노드</a:t>
            </a:r>
            <a:r>
              <a:rPr sz="1300" dirty="0">
                <a:solidFill>
                  <a:srgbClr val="374151"/>
                </a:solidFill>
              </a:rPr>
              <a:t> = TC </a:t>
            </a:r>
            <a:r>
              <a:rPr sz="1300" dirty="0" err="1">
                <a:solidFill>
                  <a:srgbClr val="374151"/>
                </a:solidFill>
              </a:rPr>
              <a:t>생성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단위</a:t>
            </a:r>
            <a:endParaRPr sz="1300" dirty="0">
              <a:solidFill>
                <a:srgbClr val="374151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374151"/>
                </a:solidFill>
              </a:rPr>
              <a:t>사용자가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직접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편집·제외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설정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가능</a:t>
            </a:r>
            <a:endParaRPr sz="1300" dirty="0">
              <a:solidFill>
                <a:srgbClr val="374151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374151"/>
                </a:solidFill>
              </a:rPr>
              <a:t>Excel </a:t>
            </a:r>
            <a:r>
              <a:rPr sz="1300" dirty="0" err="1">
                <a:solidFill>
                  <a:srgbClr val="374151"/>
                </a:solidFill>
              </a:rPr>
              <a:t>다운로드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지원</a:t>
            </a:r>
            <a:endParaRPr sz="1300" dirty="0">
              <a:solidFill>
                <a:srgbClr val="37415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83280" y="1188720"/>
            <a:ext cx="2651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188720"/>
            <a:ext cx="26517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234440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smtClean="0">
                <a:solidFill>
                  <a:srgbClr val="FFFFFF"/>
                </a:solidFill>
              </a:rPr>
              <a:t> </a:t>
            </a:r>
            <a:r>
              <a:rPr sz="1500" b="1" dirty="0">
                <a:solidFill>
                  <a:srgbClr val="FFFFFF"/>
                </a:solidFill>
              </a:rPr>
              <a:t>TC </a:t>
            </a:r>
            <a:r>
              <a:rPr sz="1500" b="1" dirty="0" err="1">
                <a:solidFill>
                  <a:srgbClr val="FFFFFF"/>
                </a:solidFill>
              </a:rPr>
              <a:t>생성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레벨</a:t>
            </a:r>
            <a:r>
              <a:rPr sz="1500" b="1" dirty="0">
                <a:solidFill>
                  <a:srgbClr val="FFFFFF"/>
                </a:solidFill>
              </a:rPr>
              <a:t> (1~5)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572768"/>
            <a:ext cx="2377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Lv1 핵심검증 · Lv2 표준 · Lv3 정밀(기본)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Lv4 심층 · Lv5 전수검증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레벨별 기능당 생성 수: 2~35개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모든 레벨에서 4가지 유형 분포 유지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21550" y="1188720"/>
            <a:ext cx="2651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21550" y="1188720"/>
            <a:ext cx="26517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8710" y="1234440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smtClean="0">
                <a:solidFill>
                  <a:srgbClr val="FFFFFF"/>
                </a:solidFill>
              </a:rPr>
              <a:t> </a:t>
            </a:r>
            <a:r>
              <a:rPr sz="1500" b="1" dirty="0">
                <a:solidFill>
                  <a:srgbClr val="FFFFFF"/>
                </a:solidFill>
              </a:rPr>
              <a:t>QA </a:t>
            </a:r>
            <a:r>
              <a:rPr sz="1500" b="1" dirty="0" err="1">
                <a:solidFill>
                  <a:srgbClr val="FFFFFF"/>
                </a:solidFill>
              </a:rPr>
              <a:t>룰셋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관리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58710" y="1572768"/>
            <a:ext cx="2377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374151"/>
                </a:solidFill>
              </a:rPr>
              <a:t>메뉴트리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추출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지침</a:t>
            </a:r>
            <a:r>
              <a:rPr sz="1300" dirty="0">
                <a:solidFill>
                  <a:srgbClr val="374151"/>
                </a:solidFill>
              </a:rPr>
              <a:t> + TC </a:t>
            </a:r>
            <a:r>
              <a:rPr sz="1300" dirty="0" err="1">
                <a:solidFill>
                  <a:srgbClr val="374151"/>
                </a:solidFill>
              </a:rPr>
              <a:t>생성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지침</a:t>
            </a:r>
            <a:endParaRPr sz="1300" dirty="0">
              <a:solidFill>
                <a:srgbClr val="374151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374151"/>
                </a:solidFill>
              </a:rPr>
              <a:t>프로젝트별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룰셋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선택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적용</a:t>
            </a:r>
            <a:endParaRPr sz="1300" dirty="0">
              <a:solidFill>
                <a:srgbClr val="374151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374151"/>
                </a:solidFill>
              </a:rPr>
              <a:t>시스템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기본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룰셋</a:t>
            </a:r>
            <a:r>
              <a:rPr sz="1300" dirty="0">
                <a:solidFill>
                  <a:srgbClr val="374151"/>
                </a:solidFill>
              </a:rPr>
              <a:t> + </a:t>
            </a:r>
            <a:r>
              <a:rPr sz="1300" dirty="0" err="1">
                <a:solidFill>
                  <a:srgbClr val="374151"/>
                </a:solidFill>
              </a:rPr>
              <a:t>사용자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정의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룰셋</a:t>
            </a:r>
            <a:endParaRPr sz="1300" dirty="0">
              <a:solidFill>
                <a:srgbClr val="374151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374151"/>
                </a:solidFill>
              </a:rPr>
              <a:t>UI에서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직접</a:t>
            </a:r>
            <a:r>
              <a:rPr sz="1300" dirty="0">
                <a:solidFill>
                  <a:srgbClr val="374151"/>
                </a:solidFill>
              </a:rPr>
              <a:t> </a:t>
            </a:r>
            <a:r>
              <a:rPr sz="1300" dirty="0" err="1">
                <a:solidFill>
                  <a:srgbClr val="374151"/>
                </a:solidFill>
              </a:rPr>
              <a:t>생성·수정·삭제</a:t>
            </a:r>
            <a:endParaRPr sz="1300" dirty="0">
              <a:solidFill>
                <a:srgbClr val="37415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0384" y="1188720"/>
            <a:ext cx="2651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00384" y="1188720"/>
            <a:ext cx="26517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37544" y="1234440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smtClean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도메인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특화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프롬프트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37544" y="1572768"/>
            <a:ext cx="2377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아파트·공동주택 관리 ERP 전문가 역할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회계/부과/검침/인사급여/입주관리 도메인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공동주택관리법·회계처리기준 규정 반영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경계값·동등분할·탐색적 테스트 기법 명시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</a:rPr>
              <a:t>Python + FastAPI + React + Google Gemini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517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smtClean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백엔드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Python 3.12  +  FastAPI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SQLAlchemy ORM  /  SQLite → PostgreSQL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Uvicorn (ASGI 서버)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python-multipart, openpyxl, pypdf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8" y="118872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47288" y="1188720"/>
            <a:ext cx="265176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1234440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 smtClean="0">
                <a:solidFill>
                  <a:srgbClr val="FFFFFF"/>
                </a:solidFill>
              </a:rPr>
              <a:t>프론트엔드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84448" y="1572768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React 18  +  Vite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React Router DOM 6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Axios (HTTP 클라이언트)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전역 CSS (index.css)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1596" y="118872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41596" y="1188720"/>
            <a:ext cx="265176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1596" y="1199858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smtClean="0">
                <a:solidFill>
                  <a:srgbClr val="FFFFFF"/>
                </a:solidFill>
              </a:rPr>
              <a:t>  </a:t>
            </a:r>
            <a:r>
              <a:rPr sz="1500" b="1" dirty="0">
                <a:solidFill>
                  <a:srgbClr val="FFFFFF"/>
                </a:solidFill>
              </a:rPr>
              <a:t>AI / </a:t>
            </a:r>
            <a:r>
              <a:rPr sz="1500" b="1" dirty="0" err="1">
                <a:solidFill>
                  <a:srgbClr val="FFFFFF"/>
                </a:solidFill>
              </a:rPr>
              <a:t>벡터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78756" y="1572768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>
                <a:solidFill>
                  <a:srgbClr val="374151"/>
                </a:solidFill>
              </a:rPr>
              <a:t>Google Gemini API  (google-</a:t>
            </a:r>
            <a:r>
              <a:rPr sz="1300" dirty="0" err="1">
                <a:solidFill>
                  <a:srgbClr val="374151"/>
                </a:solidFill>
              </a:rPr>
              <a:t>genai</a:t>
            </a:r>
            <a:r>
              <a:rPr sz="1300" dirty="0">
                <a:solidFill>
                  <a:srgbClr val="374151"/>
                </a:solidFill>
              </a:rPr>
              <a:t>)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374151"/>
                </a:solidFill>
              </a:rPr>
              <a:t>gemini-2.5-flash  /  flash-lite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374151"/>
                </a:solidFill>
              </a:rPr>
              <a:t>Gemini Embedding API</a:t>
            </a: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374151"/>
                </a:solidFill>
              </a:rPr>
              <a:t>SimpleVectorStore</a:t>
            </a:r>
            <a:r>
              <a:rPr sz="1300" dirty="0">
                <a:solidFill>
                  <a:srgbClr val="374151"/>
                </a:solidFill>
              </a:rPr>
              <a:t> (</a:t>
            </a:r>
            <a:r>
              <a:rPr sz="1300" dirty="0" err="1">
                <a:solidFill>
                  <a:srgbClr val="374151"/>
                </a:solidFill>
              </a:rPr>
              <a:t>numpy</a:t>
            </a:r>
            <a:r>
              <a:rPr sz="1300" dirty="0">
                <a:solidFill>
                  <a:srgbClr val="374151"/>
                </a:solidFill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15274" y="118872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15274" y="1188720"/>
            <a:ext cx="2651760" cy="34747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15274" y="1208455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smtClean="0">
                <a:solidFill>
                  <a:srgbClr val="FFFFFF"/>
                </a:solidFill>
              </a:rPr>
              <a:t>  </a:t>
            </a:r>
            <a:r>
              <a:rPr sz="1500" b="1" dirty="0" err="1">
                <a:solidFill>
                  <a:srgbClr val="FFFFFF"/>
                </a:solidFill>
              </a:rPr>
              <a:t>인프라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52434" y="1572768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SQLite (개발)  →  PostgreSQL (예정)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FastAPI 정적파일 서빙 (운영 단일 서버)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GitHub 형상관리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74151"/>
                </a:solidFill>
              </a:rPr>
              <a:t>Windows 10 Pro / VS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12080"/>
            <a:ext cx="11430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2943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</a:rPr>
              <a:t>⚠️  Python 3.12 필수 (3.14 pydantic-core 휠 미제공)  ·  pip 설치 시 사내 SSL 우회 옵션 필요  ·  MSVC 불필요 (순수 Python 패키지만 사용)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</a:rPr>
              <a:t>Phase 5~8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651760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BEAFE"/>
                </a:solidFill>
              </a:rPr>
              <a:t>Phase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프론트+백 통합 배포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240280"/>
            <a:ext cx="11887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2585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</a:rPr>
              <a:t>단기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</a:rPr>
              <a:t>단일 서버로 프론트/백 동시 서빙
npm build → FastAPI 정적파일 서빙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9856" y="1234440"/>
            <a:ext cx="2651760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9856" y="1325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BEAFE"/>
                </a:solidFill>
              </a:rPr>
              <a:t>Phase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6916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TC 수동 결과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1376" y="2240280"/>
            <a:ext cx="11887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51376" y="22585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</a:rPr>
              <a:t>단기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6517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</a:rPr>
              <a:t>테스트 수행 결과를 시스템 내 기록
결함 이력 자동 누적 강화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1234440"/>
            <a:ext cx="2651760" cy="42976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1325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BEAFE"/>
                </a:solidFill>
              </a:rPr>
              <a:t>Phase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16916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Playwright 자동화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5472" y="2240280"/>
            <a:ext cx="118872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05472" y="22585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74151"/>
                </a:solidFill>
              </a:rPr>
              <a:t>중기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26517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</a:rPr>
              <a:t>웹 크롤러로 UI 수집
Playwright 자동화 TC 생성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5760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</a:rPr>
              <a:t>💬  문의 및 개선 요청  :  iterp@aegisep.com  ·  GitHub: handh228-star/aegis_qa_assistant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885</Words>
  <Application>Microsoft Office PowerPoint</Application>
  <PresentationFormat>사용자 지정</PresentationFormat>
  <Paragraphs>150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show1004e</cp:lastModifiedBy>
  <cp:revision>4</cp:revision>
  <dcterms:created xsi:type="dcterms:W3CDTF">2013-01-27T09:14:16Z</dcterms:created>
  <dcterms:modified xsi:type="dcterms:W3CDTF">2026-05-13T08:11:08Z</dcterms:modified>
  <cp:category/>
</cp:coreProperties>
</file>